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31"/>
  </p:notesMasterIdLst>
  <p:handoutMasterIdLst>
    <p:handoutMasterId r:id="rId32"/>
  </p:handoutMasterIdLst>
  <p:sldIdLst>
    <p:sldId id="410" r:id="rId5"/>
    <p:sldId id="430" r:id="rId6"/>
    <p:sldId id="431" r:id="rId7"/>
    <p:sldId id="429" r:id="rId8"/>
    <p:sldId id="383" r:id="rId9"/>
    <p:sldId id="411" r:id="rId10"/>
    <p:sldId id="416" r:id="rId11"/>
    <p:sldId id="389" r:id="rId12"/>
    <p:sldId id="415" r:id="rId13"/>
    <p:sldId id="413" r:id="rId14"/>
    <p:sldId id="414" r:id="rId15"/>
    <p:sldId id="417" r:id="rId16"/>
    <p:sldId id="418" r:id="rId17"/>
    <p:sldId id="420" r:id="rId18"/>
    <p:sldId id="421" r:id="rId19"/>
    <p:sldId id="423" r:id="rId20"/>
    <p:sldId id="424" r:id="rId21"/>
    <p:sldId id="426" r:id="rId22"/>
    <p:sldId id="427" r:id="rId23"/>
    <p:sldId id="428" r:id="rId24"/>
    <p:sldId id="432" r:id="rId25"/>
    <p:sldId id="433" r:id="rId26"/>
    <p:sldId id="434" r:id="rId27"/>
    <p:sldId id="435" r:id="rId28"/>
    <p:sldId id="436" r:id="rId29"/>
    <p:sldId id="398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6" autoAdjust="0"/>
    <p:restoredTop sz="96327" autoAdjust="0"/>
  </p:normalViewPr>
  <p:slideViewPr>
    <p:cSldViewPr snapToGrid="0">
      <p:cViewPr varScale="1">
        <p:scale>
          <a:sx n="85" d="100"/>
          <a:sy n="85" d="100"/>
        </p:scale>
        <p:origin x="456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commentAuthors" Target="commentAuthors.xml"/><Relationship Id="rId38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11/18/2024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11/18/2024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48CAD-E4D1-5787-880C-B835FB9A0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9EBF54-16E5-26F3-CE9F-FF04242373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B85EFD-22EC-FEF1-41D6-FB0B247EBA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9E99A0-04E2-E993-50F9-A6B3CB641E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0762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40B5E-E1DC-C129-70D0-163CF63DB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D84C7D-4620-4A64-686C-D004D1248E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DAA013-6C69-F4E4-9CE1-C2AE84A1B3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EE5098-4983-3E71-5F1D-06F4F60A1E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16215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E0371-5DAC-04AF-217E-E282E8E9F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0220EA-E815-3054-F39C-2D1EB8F37E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93F5B6-CD7B-6C88-B79D-1C8937F2C0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5238B9-0E2B-EFBC-78D7-C6B7560B3F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87806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5511A-2DD9-EB5F-F347-BC5F9DB2B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5EF169-E5E7-5092-EC73-96064595C1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ECF2E6-C769-2B88-C09E-696D386E56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221E57-D609-358A-8451-3B252572C8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911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2480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9A927-2F39-FDC6-8BFE-C5EBE8B49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A729EE-7F18-80A1-2F11-D077AECFEF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F2D3E5-3A9F-5EC4-E99D-94B639A366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FF4B93-0913-5F6F-57FB-D0AAA1BE90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8773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8046" y="976393"/>
            <a:ext cx="7268707" cy="226197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Weather Forecasting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2AD1D-A0E2-DE94-D6E1-BCEEB779E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BDB8D-EA74-FFAB-56F3-8E2EFFE63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875" y="398517"/>
            <a:ext cx="6193898" cy="1387663"/>
          </a:xfrm>
        </p:spPr>
        <p:txBody>
          <a:bodyPr/>
          <a:lstStyle/>
          <a:p>
            <a:r>
              <a:rPr lang="en-US" dirty="0"/>
              <a:t>Weather Forecasting: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FD41A2-8C14-9C7C-583D-ED746E17B096}"/>
              </a:ext>
            </a:extLst>
          </p:cNvPr>
          <p:cNvSpPr txBox="1"/>
          <p:nvPr/>
        </p:nvSpPr>
        <p:spPr>
          <a:xfrm>
            <a:off x="315390" y="2433234"/>
            <a:ext cx="9944488" cy="4170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SimSun" panose="02010600030101010101" pitchFamily="2" charset="-122"/>
              </a:rPr>
              <a:t>Weather forecasting predicts atmospheric conditions, including temperature, humidity, and precipitation.</a:t>
            </a:r>
            <a:endParaRPr lang="en-PK" sz="28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SimSun" panose="02010600030101010101" pitchFamily="2" charset="-122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SimSun" panose="02010600030101010101" pitchFamily="2" charset="-122"/>
              </a:rPr>
              <a:t>Temperature and humidity often show a negative correlation.</a:t>
            </a:r>
            <a:endParaRPr lang="en-PK" sz="28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SimSun" panose="02010600030101010101" pitchFamily="2" charset="-122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SimSun" panose="02010600030101010101" pitchFamily="2" charset="-122"/>
              </a:rPr>
              <a:t>Time series analysis forecasts future values based on past patterns.</a:t>
            </a:r>
            <a:endParaRPr lang="en-PK" sz="28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SimSun" panose="02010600030101010101" pitchFamily="2" charset="-122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SimSun" panose="02010600030101010101" pitchFamily="2" charset="-122"/>
              </a:rPr>
              <a:t>Techniques include Numerical Weather Prediction and ensemble forecasting.</a:t>
            </a:r>
            <a:endParaRPr lang="en-PK" sz="28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SimSun" panose="02010600030101010101" pitchFamily="2" charset="-122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SimSun" panose="02010600030101010101" pitchFamily="2" charset="-122"/>
              </a:rPr>
              <a:t>Applications include agriculture, aviation, energy, and emergency management.</a:t>
            </a:r>
            <a:endParaRPr lang="en-PK" sz="28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61392735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35CE8-E590-615C-32D3-E7588C163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569E6E6-A603-8D5F-4AEA-70FCB30558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943" y="1924184"/>
            <a:ext cx="7997125" cy="41356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31E2260-E9BA-E3C8-670A-E091C89236B9}"/>
              </a:ext>
            </a:extLst>
          </p:cNvPr>
          <p:cNvSpPr txBox="1"/>
          <p:nvPr/>
        </p:nvSpPr>
        <p:spPr>
          <a:xfrm>
            <a:off x="526943" y="798162"/>
            <a:ext cx="63698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Arial Black" panose="020B0A04020102020204" pitchFamily="34" charset="0"/>
              </a:rPr>
              <a:t>Topic distribution:</a:t>
            </a:r>
            <a:endParaRPr lang="en-PK" sz="4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1650354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69377-0310-0CB1-110E-D3849FA30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6A0EF-AB18-9709-F142-C905CC2E45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7768" y="526942"/>
            <a:ext cx="9872420" cy="226197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SimSun" panose="02010600030101010101" pitchFamily="2" charset="-122"/>
              </a:rPr>
              <a:t>C</a:t>
            </a:r>
            <a:r>
              <a:rPr lang="en-PK" sz="6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SimSun" panose="02010600030101010101" pitchFamily="2" charset="-122"/>
              </a:rPr>
              <a:t>orrelations</a:t>
            </a:r>
            <a:r>
              <a:rPr lang="en-PK" sz="6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imSun" panose="02010600030101010101" pitchFamily="2" charset="-122"/>
              </a:rPr>
              <a:t> analysis between temperature and humidity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997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401" y="526602"/>
            <a:ext cx="6193898" cy="950103"/>
          </a:xfrm>
        </p:spPr>
        <p:txBody>
          <a:bodyPr/>
          <a:lstStyle/>
          <a:p>
            <a:r>
              <a:rPr lang="en-US" sz="4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imSun" panose="02010600030101010101" pitchFamily="2" charset="-122"/>
              </a:rPr>
              <a:t>Correlation analysis </a:t>
            </a:r>
            <a:endParaRPr lang="en-US" sz="48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DC61FE-CC5E-7055-E2A3-6381AA4ECF6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4359" y="3103329"/>
            <a:ext cx="11354834" cy="1147082"/>
          </a:xfrm>
        </p:spPr>
        <p:txBody>
          <a:bodyPr>
            <a:normAutofit/>
          </a:bodyPr>
          <a:lstStyle/>
          <a:p>
            <a:r>
              <a:rPr lang="en-US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SimSun" panose="02010600030101010101" pitchFamily="2" charset="-122"/>
              </a:rPr>
              <a:t>Correlation analysis is a statistical technique used to investigate the relationship between two continuous variables.</a:t>
            </a:r>
            <a:endParaRPr lang="en-PK" sz="28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706D8F-2FB4-E27D-161F-9DA749690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571" y="4545666"/>
            <a:ext cx="10560858" cy="1785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455C6-C14A-6654-16AF-1C6586FC4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61CCD-B811-AEFC-2675-B8D556002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896" y="224161"/>
            <a:ext cx="6193898" cy="1387663"/>
          </a:xfrm>
        </p:spPr>
        <p:txBody>
          <a:bodyPr/>
          <a:lstStyle/>
          <a:p>
            <a:r>
              <a:rPr lang="en-US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imSun" panose="02010600030101010101" pitchFamily="2" charset="-122"/>
              </a:rPr>
              <a:t>Interpretation of Correlation Coefficient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4A6FE5-A64B-5F05-FC24-8D5F929DBD24}"/>
              </a:ext>
            </a:extLst>
          </p:cNvPr>
          <p:cNvSpPr txBox="1"/>
          <p:nvPr/>
        </p:nvSpPr>
        <p:spPr>
          <a:xfrm>
            <a:off x="268896" y="3717112"/>
            <a:ext cx="11618304" cy="217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SimSun" panose="02010600030101010101" pitchFamily="2" charset="-122"/>
              </a:rPr>
              <a:t>Correlation measures the strength and direction of the linear relationship between two variables. It ranges from -1 (perfect negative correlation) to 1 (perfect positive correlation), with 0 indicating no correlation.</a:t>
            </a:r>
            <a:endParaRPr lang="en-PK" sz="32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77360260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8C5B9-BC27-226A-1596-80C42CC30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F6BA70-83E8-EF09-00E5-46304777640A}"/>
              </a:ext>
            </a:extLst>
          </p:cNvPr>
          <p:cNvSpPr txBox="1"/>
          <p:nvPr/>
        </p:nvSpPr>
        <p:spPr>
          <a:xfrm>
            <a:off x="249910" y="3887791"/>
            <a:ext cx="11692180" cy="865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kern="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SimSun" panose="02010600030101010101" pitchFamily="2" charset="-122"/>
              </a:rPr>
              <a:t>2</a:t>
            </a:r>
            <a:r>
              <a:rPr lang="en-US" sz="24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SimSun" panose="02010600030101010101" pitchFamily="2" charset="-122"/>
              </a:rPr>
              <a:t>. </a:t>
            </a:r>
            <a:r>
              <a:rPr lang="en-US" sz="24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SimSun" panose="02010600030101010101" pitchFamily="2" charset="-122"/>
              </a:rPr>
              <a:t>Spearman's Rank Correlation Coefficient (ρ): Measures monotonic relationship between temperature and humidity.</a:t>
            </a:r>
            <a:endParaRPr lang="en-PK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SimSun" panose="02010600030101010101" pitchFamily="2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DEDEE5-688F-C15E-5CBE-1331A75AFC8E}"/>
              </a:ext>
            </a:extLst>
          </p:cNvPr>
          <p:cNvSpPr txBox="1"/>
          <p:nvPr/>
        </p:nvSpPr>
        <p:spPr>
          <a:xfrm>
            <a:off x="197603" y="1239864"/>
            <a:ext cx="11364133" cy="865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4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SimSun" panose="02010600030101010101" pitchFamily="2" charset="-122"/>
              </a:rPr>
              <a:t>Pearson's Correlation Coefficient (r): Measures linear relationship between temperature and humidity.</a:t>
            </a:r>
            <a:endParaRPr lang="en-PK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SimSun" panose="02010600030101010101" pitchFamily="2" charset="-12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A70E1C-9589-7ACD-2CF3-E5DA528F8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849" y="2104839"/>
            <a:ext cx="11144887" cy="17829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9193413-286C-5F38-25B9-C7C6173BE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1173" y="4752765"/>
            <a:ext cx="8570563" cy="18216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F2E5AA4-2192-7B8D-CC65-7B6C631358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588" y="0"/>
            <a:ext cx="6032680" cy="1239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8943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95E22C-5789-7822-99CC-08D8C108F1FB}"/>
              </a:ext>
            </a:extLst>
          </p:cNvPr>
          <p:cNvSpPr txBox="1"/>
          <p:nvPr/>
        </p:nvSpPr>
        <p:spPr>
          <a:xfrm>
            <a:off x="383582" y="216233"/>
            <a:ext cx="11209149" cy="838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SimSun" panose="02010600030101010101" pitchFamily="2" charset="-122"/>
              </a:rPr>
              <a:t>A meteorologist collected data on temperature (°F) and relative humidity (%) for 5 consecutive days:</a:t>
            </a:r>
            <a:endParaRPr lang="en-PK" sz="20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SimSun" panose="02010600030101010101" pitchFamily="2" charset="-122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20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SimSun" panose="02010600030101010101" pitchFamily="2" charset="-122"/>
              </a:rPr>
              <a:t> 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AD3B62D-D743-58F7-DC16-785265D1CC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7827094"/>
              </p:ext>
            </p:extLst>
          </p:nvPr>
        </p:nvGraphicFramePr>
        <p:xfrm>
          <a:off x="2032000" y="719666"/>
          <a:ext cx="8127999" cy="222504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55843674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96017473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7670749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Day </a:t>
                      </a:r>
                      <a:endParaRPr lang="en-PK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Temperature (x) </a:t>
                      </a:r>
                      <a:endParaRPr lang="en-PK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Humidity (y) </a:t>
                      </a:r>
                      <a:endParaRPr lang="en-PK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6998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PK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68</a:t>
                      </a:r>
                      <a:endParaRPr lang="en-PK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60</a:t>
                      </a:r>
                      <a:endParaRPr lang="en-PK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2913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PK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70</a:t>
                      </a:r>
                      <a:endParaRPr lang="en-PK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58</a:t>
                      </a:r>
                      <a:endParaRPr lang="en-PK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9554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PK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72</a:t>
                      </a:r>
                      <a:endParaRPr lang="en-PK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55</a:t>
                      </a:r>
                      <a:endParaRPr lang="en-PK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648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PK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75</a:t>
                      </a:r>
                      <a:endParaRPr lang="en-PK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50</a:t>
                      </a:r>
                      <a:endParaRPr lang="en-PK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2161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PK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78</a:t>
                      </a:r>
                      <a:endParaRPr lang="en-PK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48</a:t>
                      </a:r>
                      <a:endParaRPr lang="en-PK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397313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52837FC-A6AD-965C-F831-1D920C7C956C}"/>
              </a:ext>
            </a:extLst>
          </p:cNvPr>
          <p:cNvSpPr txBox="1"/>
          <p:nvPr/>
        </p:nvSpPr>
        <p:spPr>
          <a:xfrm>
            <a:off x="383582" y="3109709"/>
            <a:ext cx="87642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SimSun" panose="02010600030101010101" pitchFamily="2" charset="-122"/>
              </a:rPr>
              <a:t>Calculate the correlation coefficient between temperature and humidity </a:t>
            </a:r>
            <a:endParaRPr lang="en-PK" sz="2000" b="1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0782D2-1EC5-C42E-EB21-5B8A99636E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053" y="3902275"/>
            <a:ext cx="9070384" cy="2193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871986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9FE11-D277-47DE-0F55-CB9B2A04E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4C045B7-6B79-993E-FDF7-70477EB3B3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830" y="533450"/>
            <a:ext cx="9306089" cy="1007626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8511B6A-7FD4-5CE2-4820-094AE66293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2925774"/>
              </p:ext>
            </p:extLst>
          </p:nvPr>
        </p:nvGraphicFramePr>
        <p:xfrm>
          <a:off x="957019" y="2068017"/>
          <a:ext cx="8127999" cy="3681854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55843674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96017473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767074912"/>
                    </a:ext>
                  </a:extLst>
                </a:gridCol>
              </a:tblGrid>
              <a:tr h="728279"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Day </a:t>
                      </a:r>
                      <a:endParaRPr lang="en-PK" sz="2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 - x̄ </a:t>
                      </a:r>
                      <a:endParaRPr lang="en-PK" sz="2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 - ȳ </a:t>
                      </a:r>
                      <a:endParaRPr lang="en-PK" sz="2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6998064"/>
                  </a:ext>
                </a:extLst>
              </a:tr>
              <a:tr h="59071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PK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-4.6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5.8</a:t>
                      </a:r>
                      <a:endParaRPr lang="en-PK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2913065"/>
                  </a:ext>
                </a:extLst>
              </a:tr>
              <a:tr h="59071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PK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-2.6</a:t>
                      </a:r>
                      <a:endParaRPr lang="en-PK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3.8</a:t>
                      </a:r>
                      <a:endParaRPr lang="en-PK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9554933"/>
                  </a:ext>
                </a:extLst>
              </a:tr>
              <a:tr h="59071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PK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-0.6</a:t>
                      </a:r>
                      <a:endParaRPr lang="en-PK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0.8</a:t>
                      </a:r>
                      <a:endParaRPr lang="en-PK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648884"/>
                  </a:ext>
                </a:extLst>
              </a:tr>
              <a:tr h="59071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PK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2.4</a:t>
                      </a:r>
                      <a:endParaRPr lang="en-PK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-4.2</a:t>
                      </a:r>
                      <a:endParaRPr lang="en-PK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2161769"/>
                  </a:ext>
                </a:extLst>
              </a:tr>
              <a:tr h="59071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PK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5.4</a:t>
                      </a:r>
                      <a:endParaRPr lang="en-PK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-6.2</a:t>
                      </a:r>
                      <a:endParaRPr lang="en-PK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39731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3647052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E5CDFC-1195-4395-DEF7-CB848EE08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25" y="526942"/>
            <a:ext cx="9177825" cy="6059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686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6663F-9D21-8CAC-6DD6-79F555A8C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09CD0B-B7EA-B40A-C3F2-F1D27D65C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638" y="260037"/>
            <a:ext cx="6228115" cy="23436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4A14A5-D346-046D-76F5-D1F7A760F2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637" y="3773206"/>
            <a:ext cx="10319667" cy="17131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124297F-CFF0-2A15-BABB-740E51A0CF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162" y="2766763"/>
            <a:ext cx="3893867" cy="132447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37D5C46-9FEF-293F-CF93-142BE9C308C4}"/>
              </a:ext>
            </a:extLst>
          </p:cNvPr>
          <p:cNvSpPr txBox="1"/>
          <p:nvPr/>
        </p:nvSpPr>
        <p:spPr>
          <a:xfrm>
            <a:off x="8179232" y="784868"/>
            <a:ext cx="3521989" cy="1173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SimSun" panose="02010600030101010101" pitchFamily="2" charset="-122"/>
              </a:rPr>
              <a:t>b = covariance between x and y</a:t>
            </a:r>
            <a:endParaRPr lang="en-PK" sz="18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SimSun" panose="02010600030101010101" pitchFamily="2" charset="-122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b="1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SimSun" panose="02010600030101010101" pitchFamily="2" charset="-122"/>
              </a:rPr>
              <a:t>sxx</a:t>
            </a:r>
            <a:r>
              <a:rPr lang="en-US" sz="18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SimSun" panose="02010600030101010101" pitchFamily="2" charset="-122"/>
              </a:rPr>
              <a:t> = variance of x</a:t>
            </a:r>
            <a:endParaRPr lang="en-PK" sz="18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SimSun" panose="02010600030101010101" pitchFamily="2" charset="-122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b="1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SimSun" panose="02010600030101010101" pitchFamily="2" charset="-122"/>
              </a:rPr>
              <a:t>syy</a:t>
            </a:r>
            <a:r>
              <a:rPr lang="en-US" sz="18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SimSun" panose="02010600030101010101" pitchFamily="2" charset="-122"/>
              </a:rPr>
              <a:t> = variance of y</a:t>
            </a:r>
            <a:endParaRPr lang="en-PK" sz="18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5580230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9D6E4-E106-4F28-BB8C-F4BC26B48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PREDICTION USING LINEAR REGRESSION MODEL</a:t>
            </a:r>
            <a:endParaRPr lang="en-P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Table Placeholder 3">
            <a:extLst>
              <a:ext uri="{FF2B5EF4-FFF2-40B4-BE49-F238E27FC236}">
                <a16:creationId xmlns:a16="http://schemas.microsoft.com/office/drawing/2014/main" id="{65220184-94CD-44E9-B5F4-F69DF84DB709}"/>
              </a:ext>
            </a:extLst>
          </p:cNvPr>
          <p:cNvPicPr>
            <a:picLocks noGrp="1" noChangeAspect="1"/>
          </p:cNvPicPr>
          <p:nvPr>
            <p:ph type="tbl" sz="quarter" idx="10"/>
          </p:nvPr>
        </p:nvPicPr>
        <p:blipFill>
          <a:blip r:embed="rId2"/>
          <a:stretch>
            <a:fillRect/>
          </a:stretch>
        </p:blipFill>
        <p:spPr>
          <a:xfrm>
            <a:off x="594360" y="2463264"/>
            <a:ext cx="10972800" cy="18661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5815473-B07B-4EA0-99B1-663E71E82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966011"/>
            <a:ext cx="7704688" cy="12287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E0C8D4-2423-47A9-A186-7C108D71E1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5782" y="4004841"/>
            <a:ext cx="3223959" cy="961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039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6A2E660-3B07-4751-82F2-72CFBAA5D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376" y="1089819"/>
            <a:ext cx="10232020" cy="12858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358F0E-1993-46B2-997F-1E5EE771B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02400"/>
            <a:ext cx="10972800" cy="769873"/>
          </a:xfrm>
        </p:spPr>
        <p:txBody>
          <a:bodyPr/>
          <a:lstStyle/>
          <a:p>
            <a:r>
              <a:rPr lang="en-US" sz="4000" dirty="0"/>
              <a:t>Steps to calculate Linear Regression:</a:t>
            </a:r>
            <a:endParaRPr lang="en-PK" sz="4000" dirty="0"/>
          </a:p>
        </p:txBody>
      </p:sp>
      <p:pic>
        <p:nvPicPr>
          <p:cNvPr id="5" name="Table Placeholder 4">
            <a:extLst>
              <a:ext uri="{FF2B5EF4-FFF2-40B4-BE49-F238E27FC236}">
                <a16:creationId xmlns:a16="http://schemas.microsoft.com/office/drawing/2014/main" id="{87D48D75-A64B-4C34-9DC9-A77B26C2456D}"/>
              </a:ext>
            </a:extLst>
          </p:cNvPr>
          <p:cNvPicPr>
            <a:picLocks noGrp="1" noChangeAspect="1"/>
          </p:cNvPicPr>
          <p:nvPr>
            <p:ph type="tbl" sz="quarter" idx="10"/>
          </p:nvPr>
        </p:nvPicPr>
        <p:blipFill>
          <a:blip r:embed="rId3"/>
          <a:stretch>
            <a:fillRect/>
          </a:stretch>
        </p:blipFill>
        <p:spPr>
          <a:xfrm>
            <a:off x="983846" y="2375694"/>
            <a:ext cx="9931079" cy="356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059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6663F-9D21-8CAC-6DD6-79F555A8C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9F5034B-5FF3-417A-9A15-FAF2D4EEC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368" y="327467"/>
            <a:ext cx="8623138" cy="12954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60C49C8-66E6-4868-B167-8BBCB181E7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1728" y="543286"/>
            <a:ext cx="3638550" cy="12573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2914EB4-041C-405A-B074-ADDD49C4F0B5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13459" y="2383601"/>
            <a:ext cx="7037407" cy="394775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FD5F92B-CB71-431C-A694-394EA0435F9A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7650866" y="2933398"/>
            <a:ext cx="4051139" cy="284815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BB5B304-E648-4CB2-841E-3D2DD8D5E5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8315" y="327467"/>
            <a:ext cx="1266825" cy="44767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6426DE3-19EE-4342-97BF-F9529ED282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0866" y="2350383"/>
            <a:ext cx="1247775" cy="37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966140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41680B-B6D9-48B4-AC53-D12BB505B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</a:t>
            </a:r>
            <a:endParaRPr lang="en-PK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41C64D3-B197-4A28-A67B-33C2E6530E24}"/>
              </a:ext>
            </a:extLst>
          </p:cNvPr>
          <p:cNvPicPr>
            <a:picLocks noGrp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3661408" y="815524"/>
            <a:ext cx="8086895" cy="35249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2F23C6-F4C2-40F4-82FC-9557FB798B9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217762" y="4340506"/>
            <a:ext cx="8530541" cy="22618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17FE2E2-C927-438B-B61E-58575897A1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182" y="2118166"/>
            <a:ext cx="2902313" cy="194454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A0200CC-D84E-4EEE-9F51-893A18981616}"/>
              </a:ext>
            </a:extLst>
          </p:cNvPr>
          <p:cNvSpPr txBox="1"/>
          <p:nvPr/>
        </p:nvSpPr>
        <p:spPr>
          <a:xfrm>
            <a:off x="603885" y="682906"/>
            <a:ext cx="2487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 </a:t>
            </a:r>
            <a:endParaRPr lang="en-PK" sz="2000" b="1" dirty="0">
              <a:solidFill>
                <a:schemeClr val="bg1"/>
              </a:solidFill>
            </a:endParaRP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D27679A9-6F97-409C-8434-CBD468CFA4A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3697" y="934652"/>
            <a:ext cx="2995887" cy="3999060"/>
          </a:xfrm>
        </p:spPr>
        <p:txBody>
          <a:bodyPr/>
          <a:lstStyle/>
          <a:p>
            <a:r>
              <a:rPr lang="en-US" b="1" dirty="0"/>
              <a:t>Step 3: Compute slope </a:t>
            </a:r>
          </a:p>
          <a:p>
            <a:r>
              <a:rPr lang="en-US" dirty="0"/>
              <a:t>The formula for the slope is:</a:t>
            </a:r>
          </a:p>
          <a:p>
            <a:endParaRPr lang="en-PK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78F4FD4-8563-459D-BD8D-625F972FD3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4221" y="1108758"/>
            <a:ext cx="676275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1159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58F0E-1993-46B2-997F-1E5EE771B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-266218"/>
            <a:ext cx="10972800" cy="138897"/>
          </a:xfrm>
        </p:spPr>
        <p:txBody>
          <a:bodyPr/>
          <a:lstStyle/>
          <a:p>
            <a:r>
              <a:rPr lang="en-US" sz="4000" dirty="0"/>
              <a:t>.</a:t>
            </a:r>
            <a:endParaRPr lang="en-PK" sz="4000" dirty="0"/>
          </a:p>
        </p:txBody>
      </p:sp>
      <p:pic>
        <p:nvPicPr>
          <p:cNvPr id="9" name="Table Placeholder 8">
            <a:extLst>
              <a:ext uri="{FF2B5EF4-FFF2-40B4-BE49-F238E27FC236}">
                <a16:creationId xmlns:a16="http://schemas.microsoft.com/office/drawing/2014/main" id="{AA7D2EF3-28D3-4F30-9B2C-7D72BB840CFD}"/>
              </a:ext>
            </a:extLst>
          </p:cNvPr>
          <p:cNvPicPr>
            <a:picLocks noGrp="1"/>
          </p:cNvPicPr>
          <p:nvPr>
            <p:ph type="tbl" sz="quarter" idx="10"/>
          </p:nvPr>
        </p:nvPicPr>
        <p:blipFill>
          <a:blip r:embed="rId2"/>
          <a:stretch>
            <a:fillRect/>
          </a:stretch>
        </p:blipFill>
        <p:spPr>
          <a:xfrm>
            <a:off x="1439118" y="3621549"/>
            <a:ext cx="10336191" cy="23907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CD103A-5B0D-498E-B41F-D148A3AA0BCD}"/>
              </a:ext>
            </a:extLst>
          </p:cNvPr>
          <p:cNvSpPr txBox="1"/>
          <p:nvPr/>
        </p:nvSpPr>
        <p:spPr>
          <a:xfrm>
            <a:off x="1701478" y="1038225"/>
            <a:ext cx="3569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The formula for the intercept is </a:t>
            </a:r>
            <a:endParaRPr lang="en-PK" sz="20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27D54E-2BBE-481C-A3EA-F09E98B5A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163" y="331747"/>
            <a:ext cx="6613574" cy="6058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C0FC92-41EA-402F-9D58-55D72C56BE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526" y="1374573"/>
            <a:ext cx="7005087" cy="16343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5C0B2C4-6F7A-4571-ADB6-668525899F5E}"/>
              </a:ext>
            </a:extLst>
          </p:cNvPr>
          <p:cNvSpPr txBox="1"/>
          <p:nvPr/>
        </p:nvSpPr>
        <p:spPr>
          <a:xfrm>
            <a:off x="1701478" y="2940229"/>
            <a:ext cx="32092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So, the intercept          is 12.</a:t>
            </a:r>
            <a:endParaRPr lang="en-PK" sz="2000" dirty="0">
              <a:solidFill>
                <a:schemeClr val="bg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C512213-6594-4220-9383-B5B5CDE250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8763" y="3008969"/>
            <a:ext cx="589102" cy="331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4903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16D04-1AC6-4794-8586-362B3BEA9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038" y="388576"/>
            <a:ext cx="10972800" cy="390231"/>
          </a:xfrm>
        </p:spPr>
        <p:txBody>
          <a:bodyPr/>
          <a:lstStyle/>
          <a:p>
            <a:r>
              <a:rPr lang="en-US" dirty="0"/>
              <a:t>.</a:t>
            </a:r>
            <a:endParaRPr lang="en-PK" dirty="0"/>
          </a:p>
        </p:txBody>
      </p:sp>
      <p:pic>
        <p:nvPicPr>
          <p:cNvPr id="5" name="Table Placeholder 4">
            <a:extLst>
              <a:ext uri="{FF2B5EF4-FFF2-40B4-BE49-F238E27FC236}">
                <a16:creationId xmlns:a16="http://schemas.microsoft.com/office/drawing/2014/main" id="{EF3F54A8-1C33-4739-B1CF-0224D2708701}"/>
              </a:ext>
            </a:extLst>
          </p:cNvPr>
          <p:cNvPicPr>
            <a:picLocks noGrp="1"/>
          </p:cNvPicPr>
          <p:nvPr>
            <p:ph type="tbl" sz="quarter" idx="10"/>
          </p:nvPr>
        </p:nvPicPr>
        <p:blipFill>
          <a:blip r:embed="rId2"/>
          <a:stretch>
            <a:fillRect/>
          </a:stretch>
        </p:blipFill>
        <p:spPr>
          <a:xfrm>
            <a:off x="1207818" y="2085047"/>
            <a:ext cx="6558794" cy="45705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808A3E8-337F-408B-9759-B4C36FC0AB5D}"/>
              </a:ext>
            </a:extLst>
          </p:cNvPr>
          <p:cNvSpPr txBox="1"/>
          <p:nvPr/>
        </p:nvSpPr>
        <p:spPr>
          <a:xfrm>
            <a:off x="7639291" y="3518704"/>
            <a:ext cx="392786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The blue line represents the actual data(Day vs Temperature).</a:t>
            </a:r>
          </a:p>
          <a:p>
            <a:r>
              <a:rPr lang="en-US" sz="2000" dirty="0">
                <a:solidFill>
                  <a:schemeClr val="bg1"/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The red line represents the regression line y=12+3x, which models the relationship between day and temperature. </a:t>
            </a:r>
            <a:endParaRPr lang="en-PK" sz="20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C369C3-CC14-4E4B-86E7-87688B9EF3B9}"/>
              </a:ext>
            </a:extLst>
          </p:cNvPr>
          <p:cNvSpPr txBox="1"/>
          <p:nvPr/>
        </p:nvSpPr>
        <p:spPr>
          <a:xfrm>
            <a:off x="941600" y="349429"/>
            <a:ext cx="923281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Step 6: Predictions </a:t>
            </a:r>
            <a:br>
              <a:rPr lang="en-US" sz="2000" b="1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Using the model y= 12+3x, we can predict the temperature (y) for any data (x).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Example: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For x=6 (Day ):</a:t>
            </a:r>
          </a:p>
          <a:p>
            <a:r>
              <a:rPr lang="en-US" sz="2000" dirty="0">
                <a:solidFill>
                  <a:schemeClr val="bg1"/>
                </a:solidFill>
              </a:rPr>
              <a:t> y = 12 + 3(6)   = 12 + 18    = </a:t>
            </a:r>
            <a:endParaRPr lang="en-PK" sz="2000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7AE4A92-811A-48D4-83A4-4AB249AB0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7215" y="1521900"/>
            <a:ext cx="1152484" cy="513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1921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77073-8303-4B10-89DB-008625B94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02400"/>
            <a:ext cx="10972800" cy="1036091"/>
          </a:xfrm>
        </p:spPr>
        <p:txBody>
          <a:bodyPr/>
          <a:lstStyle/>
          <a:p>
            <a:r>
              <a:rPr lang="en-US" sz="2800" b="0" dirty="0"/>
              <a:t>Adjust the linear regression equation:</a:t>
            </a:r>
            <a:br>
              <a:rPr lang="en-US" dirty="0"/>
            </a:br>
            <a:endParaRPr lang="en-P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4482E5-9766-48CF-BC79-894B69338777}"/>
              </a:ext>
            </a:extLst>
          </p:cNvPr>
          <p:cNvSpPr txBox="1"/>
          <p:nvPr/>
        </p:nvSpPr>
        <p:spPr>
          <a:xfrm>
            <a:off x="594362" y="1064871"/>
            <a:ext cx="506565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The presence of error does not change the equation’s form but the observed values now contains residuals;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PK" sz="200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5A848B-0639-4078-A217-E43116193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14" y="2000762"/>
            <a:ext cx="4151259" cy="6953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203D845-A162-45A5-A201-288962BD14A8}"/>
              </a:ext>
            </a:extLst>
          </p:cNvPr>
          <p:cNvSpPr txBox="1"/>
          <p:nvPr/>
        </p:nvSpPr>
        <p:spPr>
          <a:xfrm>
            <a:off x="6805915" y="720445"/>
            <a:ext cx="476124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For this example; 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Where e represents </a:t>
            </a:r>
            <a:r>
              <a:rPr lang="en-US" sz="2000" dirty="0" err="1">
                <a:solidFill>
                  <a:schemeClr val="bg1"/>
                </a:solidFill>
              </a:rPr>
              <a:t>deviaions</a:t>
            </a:r>
            <a:r>
              <a:rPr lang="en-US" sz="2000" dirty="0">
                <a:solidFill>
                  <a:schemeClr val="bg1"/>
                </a:solidFill>
              </a:rPr>
              <a:t> from </a:t>
            </a:r>
            <a:r>
              <a:rPr lang="en-US" sz="2000" dirty="0" err="1">
                <a:solidFill>
                  <a:schemeClr val="bg1"/>
                </a:solidFill>
              </a:rPr>
              <a:t>from</a:t>
            </a:r>
            <a:r>
              <a:rPr lang="en-US" sz="2000" dirty="0">
                <a:solidFill>
                  <a:schemeClr val="bg1"/>
                </a:solidFill>
              </a:rPr>
              <a:t> regression line.</a:t>
            </a:r>
            <a:endParaRPr lang="en-PK" sz="2000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68E6D15-2664-48B9-ACD6-D8458B5B7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8248" y="739408"/>
            <a:ext cx="2643838" cy="5810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1CC61EC-BFD5-40A4-BEF9-58B454F0F7F2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2257063" y="2820950"/>
            <a:ext cx="7095281" cy="3556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6631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77073-8303-4B10-89DB-008625B94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02400"/>
            <a:ext cx="10972800" cy="1036091"/>
          </a:xfrm>
        </p:spPr>
        <p:txBody>
          <a:bodyPr/>
          <a:lstStyle/>
          <a:p>
            <a:r>
              <a:rPr lang="en-US" sz="2800" b="0" dirty="0"/>
              <a:t>Error calculation:</a:t>
            </a:r>
            <a:br>
              <a:rPr lang="en-US" dirty="0"/>
            </a:br>
            <a:endParaRPr lang="en-PK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6AECB5-38AD-4A7D-9463-8CDA738CC39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94360" y="1262146"/>
            <a:ext cx="5189317" cy="9620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78CC90F-FA09-4955-B56D-5A02AA951F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0456" y="2361235"/>
            <a:ext cx="9005103" cy="3731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2926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77073-8303-4B10-89DB-008625B94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02400"/>
            <a:ext cx="10972800" cy="1036091"/>
          </a:xfrm>
        </p:spPr>
        <p:txBody>
          <a:bodyPr/>
          <a:lstStyle/>
          <a:p>
            <a:r>
              <a:rPr lang="en-US" sz="2800" b="0" dirty="0"/>
              <a:t>Error calculation:</a:t>
            </a:r>
            <a:br>
              <a:rPr lang="en-US" dirty="0"/>
            </a:b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34CC85-0208-4BFB-B4F5-40046DFF5AC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79802" y="922634"/>
            <a:ext cx="6213596" cy="54434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0D9AF50-0E74-4409-AAB6-ACA3C472C128}"/>
              </a:ext>
            </a:extLst>
          </p:cNvPr>
          <p:cNvSpPr txBox="1"/>
          <p:nvPr/>
        </p:nvSpPr>
        <p:spPr>
          <a:xfrm>
            <a:off x="6614932" y="2520969"/>
            <a:ext cx="483069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Blue line: </a:t>
            </a:r>
            <a:r>
              <a:rPr lang="en-US" sz="2000" dirty="0">
                <a:solidFill>
                  <a:schemeClr val="bg1"/>
                </a:solidFill>
              </a:rPr>
              <a:t>represents the observed temperatures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Green line: </a:t>
            </a:r>
            <a:r>
              <a:rPr lang="en-US" sz="2000" dirty="0">
                <a:solidFill>
                  <a:schemeClr val="bg1"/>
                </a:solidFill>
              </a:rPr>
              <a:t>represents the predicted temperatures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Red dotted line: </a:t>
            </a:r>
            <a:r>
              <a:rPr lang="en-US" sz="2000" dirty="0">
                <a:solidFill>
                  <a:schemeClr val="bg1"/>
                </a:solidFill>
              </a:rPr>
              <a:t>highlights the residuals (e) as the difference between observed and predicted values.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2E7A1A-51FA-4D87-BFBB-7895BB5C54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2168" y="2830180"/>
            <a:ext cx="727074" cy="4456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DCEC42-9A96-4175-ADD9-E92872B3E6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2168" y="3501341"/>
            <a:ext cx="1276658" cy="445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7358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0DCCD-2027-47C2-B362-516A7CEE87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Rainfall analysis using </a:t>
            </a:r>
            <a:r>
              <a:rPr lang="en-US" dirty="0" err="1"/>
              <a:t>bionomial</a:t>
            </a:r>
            <a:r>
              <a:rPr lang="en-US" dirty="0"/>
              <a:t> distribution</a:t>
            </a:r>
          </a:p>
        </p:txBody>
      </p:sp>
    </p:spTree>
    <p:extLst>
      <p:ext uri="{BB962C8B-B14F-4D97-AF65-F5344CB8AC3E}">
        <p14:creationId xmlns:p14="http://schemas.microsoft.com/office/powerpoint/2010/main" val="20681043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148B4-EC0D-463D-8C0B-EC7CD03724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594359"/>
            <a:ext cx="5486400" cy="3291840"/>
          </a:xfrm>
        </p:spPr>
        <p:txBody>
          <a:bodyPr/>
          <a:lstStyle/>
          <a:p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Rainfall analysis refers to the process of studying and evaluating rainfall patterns and trends over a specific period of time. This analysis is crucial for understanding how rainfall behaves in a certain region, and it helps in planning and managing various sectors such as agriculture, water resources, and disaster preparedness.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842BA1-00D5-45C3-8953-A02E28DE7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234" y="4044006"/>
            <a:ext cx="4519346" cy="2040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3021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ADFCEF9-B640-488D-BC20-C483CFA2C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7327" y="820644"/>
            <a:ext cx="6257536" cy="50288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2C5C1E4-9BD8-4EE9-ACB0-B9634439C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529" y="693420"/>
            <a:ext cx="5245798" cy="5250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6817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CD5D145-173C-4461-99BD-ADF909238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3045" y="1183768"/>
            <a:ext cx="7625910" cy="44904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D8E474-4DD4-4C41-925E-72656B5227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0861" y="5795013"/>
            <a:ext cx="6294120" cy="796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593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AE08805-F0ED-40A3-8ECA-CF225D1A7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067" y="1045453"/>
            <a:ext cx="7977865" cy="46191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173FD8-A6B2-464F-B82C-54AA906A97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0835" y="5812547"/>
            <a:ext cx="6878010" cy="985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36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Geometric annual presentation</Template>
  <TotalTime>681</TotalTime>
  <Words>527</Words>
  <Application>Microsoft Office PowerPoint</Application>
  <PresentationFormat>Widescreen</PresentationFormat>
  <Paragraphs>96</Paragraphs>
  <Slides>26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Arial Black</vt:lpstr>
      <vt:lpstr>Calibri</vt:lpstr>
      <vt:lpstr>Franklin Gothic Book</vt:lpstr>
      <vt:lpstr>Franklin Gothic Demi</vt:lpstr>
      <vt:lpstr>Times New Roman</vt:lpstr>
      <vt:lpstr>Custom</vt:lpstr>
      <vt:lpstr>Weather Forecasting</vt:lpstr>
      <vt:lpstr>Weather Forecasting:</vt:lpstr>
      <vt:lpstr>PowerPoint Presentation</vt:lpstr>
      <vt:lpstr>Correlations analysis between temperature and humidity</vt:lpstr>
      <vt:lpstr>Correlation analysis </vt:lpstr>
      <vt:lpstr>Interpretation of Correlation Coefficient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TEMPERATURE PREDICTION USING LINEAR REGRESSION MODEL</vt:lpstr>
      <vt:lpstr>Steps to calculate Linear Regression:</vt:lpstr>
      <vt:lpstr>PowerPoint Presentation</vt:lpstr>
      <vt:lpstr>.</vt:lpstr>
      <vt:lpstr>.</vt:lpstr>
      <vt:lpstr>.</vt:lpstr>
      <vt:lpstr>Adjust the linear regression equation: </vt:lpstr>
      <vt:lpstr>Error calculation: </vt:lpstr>
      <vt:lpstr>Error calculation: </vt:lpstr>
      <vt:lpstr>Rainfall analysis using bionomial distribution</vt:lpstr>
      <vt:lpstr>Rainfall analysis refers to the process of studying and evaluating rainfall patterns and trends over a specific period of time. This analysis is crucial for understanding how rainfall behaves in a certain region, and it helps in planning and managing various sectors such as agriculture, water resources, and disaster preparedness.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Correlations analysis between temperature and humidity</dc:title>
  <dc:creator>Ibrar Dar</dc:creator>
  <cp:lastModifiedBy>moona507moona@gmail.com</cp:lastModifiedBy>
  <cp:revision>32</cp:revision>
  <dcterms:created xsi:type="dcterms:W3CDTF">2024-11-02T09:34:34Z</dcterms:created>
  <dcterms:modified xsi:type="dcterms:W3CDTF">2024-11-18T17:10:00Z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